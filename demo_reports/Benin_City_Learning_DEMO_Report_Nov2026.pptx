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Latest (scaled)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H</c:v>
                </c:pt>
                <c:pt idx="1">
                  <c:v>LQ1</c:v>
                </c:pt>
                <c:pt idx="2">
                  <c:v>LQ2</c:v>
                </c:pt>
                <c:pt idx="3">
                  <c:v>LQ3</c:v>
                </c:pt>
                <c:pt idx="4">
                  <c:v>LQ4</c:v>
                </c:pt>
                <c:pt idx="5">
                  <c:v>LQ5</c:v>
                </c:pt>
                <c:pt idx="6">
                  <c:v>LQ6</c:v>
                </c:pt>
                <c:pt idx="7">
                  <c:v>LQ7</c:v>
                </c:pt>
                <c:pt idx="8">
                  <c:v>LQ8</c:v>
                </c:pt>
                <c:pt idx="9">
                  <c:v>LQ9</c:v>
                </c:pt>
                <c:pt idx="10">
                  <c:v>LQ10</c:v>
                </c:pt>
                <c:pt idx="11">
                  <c:v>LQ11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39.6</c:v>
                </c:pt>
                <c:pt idx="1">
                  <c:v>4.3</c:v>
                </c:pt>
                <c:pt idx="2">
                  <c:v>35</c:v>
                </c:pt>
                <c:pt idx="3">
                  <c:v>45</c:v>
                </c:pt>
                <c:pt idx="4">
                  <c:v>51.3</c:v>
                </c:pt>
                <c:pt idx="5">
                  <c:v>8.3</c:v>
                </c:pt>
                <c:pt idx="6">
                  <c:v>25.8</c:v>
                </c:pt>
                <c:pt idx="7">
                  <c:v>3.3</c:v>
                </c:pt>
                <c:pt idx="8">
                  <c:v>50.8</c:v>
                </c:pt>
                <c:pt idx="9">
                  <c:v>47.1</c:v>
                </c:pt>
                <c:pt idx="10">
                  <c:v>94</c:v>
                </c:pt>
                <c:pt idx="11">
                  <c:v>40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Met</c:v>
                </c:pt>
                <c:pt idx="1">
                  <c:v>Below / Above limit</c:v>
                </c:pt>
                <c:pt idx="2">
                  <c:v>Monitor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3</c:v>
                </c:pt>
                <c:pt idx="2">
                  <c:v>6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Benin City Contraceptive Access Pilot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517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Learning Questions Report — DEMO (November 2026)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</a:defRPr>
            </a:pPr>
            <a:r>
              <a:t>Facility: Kiosk Market Road (K01)  ·  Staff: Ada Okonkwo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0EB"/>
                </a:solidFill>
              </a:defRPr>
            </a:pPr>
            <a:r>
              <a:t>Sample one-month entries for H + LQ1–LQ11 · CONTRAconnect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Indicator scorecard vs targets (demo month)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65760" y="822960"/>
          <a:ext cx="68580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498079" y="822960"/>
          <a:ext cx="4114800" cy="29260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5760" y="3840480"/>
          <a:ext cx="1143000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  <a:gridCol w="2286000"/>
                <a:gridCol w="2286000"/>
                <a:gridCol w="2286000"/>
              </a:tblGrid>
              <a:tr h="256032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LQ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Indicator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Uptake conversion rate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Below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Avg. client satisfaction (1–5)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Funnel 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Net Promoter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% 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Monthly attrition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5%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Above limit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Best site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Most-used 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Injectable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Unit cost per client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5,084.75 NGN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Best 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Mobilizer 47.1%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Data-sync 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94.0%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Below</a:t>
                      </a:r>
                    </a:p>
                  </a:txBody>
                  <a:tcPr/>
                </a:tc>
              </a:tr>
              <a:tr h="256032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LQ11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% co-financing target 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Monitor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H: Method uptake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60%  ·  Uptake conversion rate (%)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39.6%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Below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engaged_app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420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engaged_mobilizer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engaged_walkin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180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overlap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receiving_method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engaged_dedup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885.0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conversion_rate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0.3955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conversion_rate_pct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39.55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LQ1: Uptake drivers, barriers &amp; client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4.00  ·  Avg. client satisfaction (1–5)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4.3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exit_surveys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surveys_with_barrier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avg_satisfaction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avg_counseling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3.9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qual_summary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Fear of side effects most cited; short waiting times valued.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barrier_rate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0.3167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avg_satisfaction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LQ2: Client-journey drop-off points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Funnel conversion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35.0%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week_num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app_engagement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600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registration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410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referral_checkin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320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method_uptake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reg_vs_eng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0.6833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ref_vs_reg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0.7805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up_vs_ref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0.6563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overall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0.35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LQ3: User satisfaction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40  ·  Net Promoter Score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responses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promoters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60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passives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detractors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45.0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LQ4: Unassisted digital journey completion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50%  ·  % completed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51.3%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completed_unassisted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completed_assisted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118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abandoned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unassisted_pct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0.5125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LQ5: Staff incentives &amp; staffing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5% limit  ·  Monthly attrition rate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8.3%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Above limit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32186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staff_start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staff_end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leavers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joiners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avg_incentive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25000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pulse_score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Performance bonus piloted at K02.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attrition_rate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0.0833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Above limit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LQ6: Kiosk location yield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Best site category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Market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week_num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K01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site_category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Market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foot_traffic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registrations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310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methods_issued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150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ft_to_reg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0.2583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reg_to_method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0.4839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LQ7: Method utilization &amp; discontinuation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Most-used method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Injectable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Injectable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issued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discontinued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refusal_reason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Fear of side effects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refusal_count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discontinuation_rate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0.0333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LQ8: Operational cost per client/kiosk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Unit cost per client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5,084.75 NGN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facility_or_kiosk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total_op_cost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4500000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clients_served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885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commodity_cost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1200000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staff_cost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2400000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other_cost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900000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unit_cost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5084.75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LQ9: SBC effectiveness by demographic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Best channel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Mobilizer 47.1%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channel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Mobilizer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age_group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20-24 yrs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acquired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85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converted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channel_conversion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0.4706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LQ10: DHIS2 / government data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95%  ·  Data-sync success rate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94.0%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Below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period_month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2026-11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sync_attempts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1500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sync_successes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1410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avg_latency_hours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dashboard_usability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4.2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API stable; one overnight batch delayed.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sync_rate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0.94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vs_target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Below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latency_ok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usability_ok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D9488"/>
                </a:solidFill>
              </a:defRPr>
            </a:pPr>
            <a:r>
              <a:t>LQ11: Stakeholder ownership &amp;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</a:defRPr>
            </a:pPr>
            <a:r>
              <a:t>Target: Monitor  ·  % co-financing target achieved  ·  2026-11  ·  Kiosk Market Road (K01)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51560"/>
            <a:ext cx="3657600" cy="1371600"/>
          </a:xfrm>
          <a:prstGeom prst="roundRect">
            <a:avLst/>
          </a:prstGeom>
          <a:solidFill>
            <a:srgbClr val="F0FDF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Demo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D9488"/>
                </a:solidFill>
              </a:defRPr>
            </a:pPr>
            <a:r>
              <a:t>40%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0116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1F2937"/>
                </a:solidFill>
              </a:defRPr>
            </a:pPr>
            <a:r>
              <a:t>Status: Monitor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051560"/>
            <a:ext cx="365760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14300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Submitted by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</a:defRPr>
            </a:pPr>
            <a:r>
              <a:t>Ada Okonkwo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mel@contraconnect.local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574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2026-11-28 14:32 UTC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051560"/>
            <a:ext cx="3291840" cy="1371600"/>
          </a:xfrm>
          <a:prstGeom prst="roundRect">
            <a:avLst/>
          </a:prstGeom>
          <a:solidFill>
            <a:srgbClr val="F9FAFB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03920" y="11430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Facility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0" y="14630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</a:defRPr>
            </a:pPr>
            <a:r>
              <a:t>Kiosk Market Road (K01)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057400"/>
            <a:ext cx="29260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</a:defRPr>
            </a:pPr>
            <a:r>
              <a:t>kiosk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Input values (yellow cells)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457200" y="2971800"/>
          <a:ext cx="54864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267286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Field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quarter_num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facility_name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Kiosk Market Road (K01)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State co-financing tranche 1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funder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Edo State Government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due_date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2027-03-31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target_amount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50000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achieved_amount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20000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policy_commitment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MoU on DHIS2 data sharing</a:t>
                      </a:r>
                    </a:p>
                  </a:txBody>
                  <a:tcPr/>
                </a:tc>
              </a:tr>
              <a:tr h="267286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policy_status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/>
                </a:tc>
              </a:tr>
              <a:tr h="26728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Ministry committed to 2027 budget line for kiosks.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400800" y="2651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F2937"/>
                </a:solidFill>
              </a:defRPr>
            </a:pPr>
            <a:r>
              <a:t>Computed outputs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400800" y="2971800"/>
          <a:ext cx="5029200" cy="5852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0D9488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pct_achieved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F2937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377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End of DEMO Learning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Excel workbook + this PPT generated from one-month sample entries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F0EB"/>
                </a:solidFill>
              </a:defRPr>
            </a:pPr>
            <a:r>
              <a:t>CONTRAconnect · Knowsoft · Benin City Pilot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